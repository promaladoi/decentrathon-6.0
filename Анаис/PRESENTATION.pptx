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766E"/>
                </a:solidFill>
                <a:latin typeface="Aptos"/>
              </a:defRPr>
            </a:pPr>
            <a:r>
              <a:t>SOUP KERNEL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3F"/>
                </a:solidFill>
                <a:latin typeface="Aptos"/>
              </a:defRPr>
            </a:pPr>
            <a:r>
              <a:t>59.34 с — проверенный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83F"/>
                </a:solidFill>
                <a:latin typeface="Aptos"/>
              </a:defRPr>
            </a:pPr>
            <a:r>
              <a:t>ANAIS / ML TRAINING &amp; EVALUATION · DECENTRATHON 6.0 · 30.10.2026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766E"/>
                </a:solidFill>
                <a:latin typeface="Aptos"/>
              </a:defRPr>
            </a:pPr>
            <a:r>
              <a:t>1.369× ускорение   ·   −60.7% памяти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14283F"/>
                </a:solidFill>
                <a:latin typeface="Aptos"/>
              </a:defRPr>
            </a:pPr>
            <a:r>
              <a:t>10/10 официальных проверок</a:t>
            </a:r>
          </a:p>
          <a:p>
            <a:pPr>
              <a:defRPr sz="2400" b="0">
                <a:solidFill>
                  <a:srgbClr val="14283F"/>
                </a:solidFill>
                <a:latin typeface="Aptos"/>
              </a:defRPr>
            </a:pPr>
            <a:r>
              <a:t>Eval loss: 2.04965 → 2.04964</a:t>
            </a:r>
          </a:p>
          <a:p>
            <a:pPr>
              <a:defRPr sz="2400" b="0">
                <a:solidFill>
                  <a:srgbClr val="14283F"/>
                </a:solidFill>
                <a:latin typeface="Aptos"/>
              </a:defRPr>
            </a:pPr>
            <a:r>
              <a:t>Цель ≤60 с: достигнута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766E"/>
                </a:solidFill>
                <a:latin typeface="Aptos"/>
              </a:defRPr>
            </a:pPr>
            <a:r>
              <a:t>ИЗМЕРЕНИЕ ПРОИЗВОДИТЕЛЬНОСТИ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3F"/>
                </a:solidFill>
                <a:latin typeface="Aptos"/>
              </a:defRPr>
            </a:pPr>
            <a:r>
              <a:t>Что изменилось относительно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83F"/>
                </a:solidFill>
                <a:latin typeface="Aptos"/>
              </a:defRPr>
            </a:pPr>
            <a:r>
              <a:t>ANAIS / ML TRAINING &amp; EVALUATION · DECENTRATHON 6.0 · 30.10.2026</a:t>
            </a:r>
          </a:p>
        </p:txBody>
      </p:sp>
      <p:pic>
        <p:nvPicPr>
          <p:cNvPr id="5" name="Picture 4" descr="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069848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766E"/>
                </a:solidFill>
                <a:latin typeface="Aptos"/>
              </a:defRPr>
            </a:pPr>
            <a:r>
              <a:t>TRAINING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3F"/>
                </a:solidFill>
                <a:latin typeface="Aptos"/>
              </a:defRPr>
            </a:pPr>
            <a:r>
              <a:t>Обучение сохраняет качество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83F"/>
                </a:solidFill>
                <a:latin typeface="Aptos"/>
              </a:defRPr>
            </a:pPr>
            <a:r>
              <a:t>ANAIS / ML TRAINING &amp; EVALUATION · DECENTRATHON 6.0 · 30.10.2026</a:t>
            </a:r>
          </a:p>
        </p:txBody>
      </p:sp>
      <p:pic>
        <p:nvPicPr>
          <p:cNvPr id="5" name="Picture 4" descr="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9646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766E"/>
                </a:solidFill>
                <a:latin typeface="Aptos"/>
              </a:defRPr>
            </a:pPr>
            <a:r>
              <a:t>КОРРЕКТНОСТЬ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3F"/>
                </a:solidFill>
                <a:latin typeface="Aptos"/>
              </a:defRPr>
            </a:pPr>
            <a:r>
              <a:t>Проверяем весь процесс обучения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83F"/>
                </a:solidFill>
                <a:latin typeface="Aptos"/>
              </a:defRPr>
            </a:pPr>
            <a:r>
              <a:t>ANAIS / ML TRAINING &amp; EVALUATION · DECENTRATHON 6.0 · 30.10.2026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4283F"/>
                </a:solidFill>
                <a:latin typeface="Aptos"/>
              </a:defRPr>
            </a:pPr>
            <a:r>
              <a:t>Фиксированная задача: 64 шага, LoRA r=16, NF4, batch 4.</a:t>
            </a:r>
          </a:p>
          <a:p>
            <a:pPr>
              <a:defRPr sz="2300" b="0">
                <a:solidFill>
                  <a:srgbClr val="14283F"/>
                </a:solidFill>
                <a:latin typeface="Aptos"/>
              </a:defRPr>
            </a:pPr>
            <a:r>
              <a:t>Проверяются токены, адаптер, entropy, accuracy и rewind.</a:t>
            </a:r>
          </a:p>
          <a:p>
            <a:pPr>
              <a:defRPr sz="2300" b="0">
                <a:solidFill>
                  <a:srgbClr val="14283F"/>
                </a:solidFill>
                <a:latin typeface="Aptos"/>
              </a:defRPr>
            </a:pPr>
            <a:r>
              <a:t>Первый loss: допуск 1%; кривая: 3%; eval loss: +0,5%.</a:t>
            </a:r>
          </a:p>
          <a:p>
            <a:pPr>
              <a:defRPr sz="2300" b="0">
                <a:solidFill>
                  <a:srgbClr val="14283F"/>
                </a:solidFill>
                <a:latin typeface="Aptos"/>
              </a:defRPr>
            </a:pPr>
            <a:r>
              <a:t>Исходные harness, task и tests не изменены.</a:t>
            </a:r>
          </a:p>
          <a:p>
            <a:pPr>
              <a:defRPr sz="2300" b="0">
                <a:solidFill>
                  <a:srgbClr val="14283F"/>
                </a:solidFill>
                <a:latin typeface="Aptos"/>
              </a:defRPr>
            </a:pPr>
            <a:r>
              <a:t>Raw JSON и SHA256 сохранены для проверки.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766E"/>
                </a:solidFill>
                <a:latin typeface="Aptos"/>
              </a:defRPr>
            </a:pPr>
            <a:r>
              <a:t>ВОСПРОИЗВОДИМОСТЬ И ГРАНИЦЫ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83F"/>
                </a:solidFill>
                <a:latin typeface="Aptos"/>
              </a:defRPr>
            </a:pPr>
            <a:r>
              <a:t>Как повторить и что ещё проверить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83F"/>
                </a:solidFill>
                <a:latin typeface="Aptos"/>
              </a:defRPr>
            </a:pPr>
            <a:r>
              <a:t>ANAIS / ML TRAINING &amp; EVALUATION · DECENTRATHON 6.0 · 30.10.2026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14283F"/>
                </a:solidFill>
                <a:latin typeface="Aptos"/>
              </a:defRPr>
            </a:pPr>
            <a:r>
              <a:t>Импортировать kaggle_optimized_candidate.ipynb: T4 x2, Internet On.</a:t>
            </a:r>
          </a:p>
          <a:p>
            <a:pPr>
              <a:defRPr sz="2300" b="0">
                <a:solidFill>
                  <a:srgbClr val="14283F"/>
                </a:solidFill>
                <a:latin typeface="Aptos"/>
              </a:defRPr>
            </a:pPr>
            <a:r>
              <a:t>Кандидат проверен одним парным запуском; шаблон настроен на два повтора.</a:t>
            </a:r>
          </a:p>
          <a:p>
            <a:pPr>
              <a:defRPr sz="2300" b="0">
                <a:solidFill>
                  <a:srgbClr val="14283F"/>
                </a:solidFill>
                <a:latin typeface="Aptos"/>
              </a:defRPr>
            </a:pPr>
            <a:r>
              <a:t>Ядра: Владимир, frozen v2-d080f2b; оценка и отчёт: Анаис.</a:t>
            </a:r>
          </a:p>
          <a:p>
            <a:pPr>
              <a:defRPr sz="2300" b="0">
                <a:solidFill>
                  <a:srgbClr val="14283F"/>
                </a:solidFill>
                <a:latin typeface="Aptos"/>
              </a:defRPr>
            </a:pPr>
            <a:r>
              <a:t>Публичные результаты не гарантируют прохождение скрытых данных.</a:t>
            </a:r>
          </a:p>
          <a:p>
            <a:pPr>
              <a:defRPr sz="2300" b="0">
                <a:solidFill>
                  <a:srgbClr val="14283F"/>
                </a:solidFill>
                <a:latin typeface="Aptos"/>
              </a:defRPr>
            </a:pPr>
            <a:r>
              <a:t>Финальный допуск определяет жюри.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